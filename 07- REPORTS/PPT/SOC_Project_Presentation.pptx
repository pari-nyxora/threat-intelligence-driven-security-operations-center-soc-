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76" r:id="rId10"/>
    <p:sldId id="277" r:id="rId11"/>
    <p:sldId id="278" r:id="rId12"/>
    <p:sldId id="266" r:id="rId13"/>
    <p:sldId id="279" r:id="rId14"/>
    <p:sldId id="281" r:id="rId15"/>
    <p:sldId id="262" r:id="rId16"/>
    <p:sldId id="263" r:id="rId17"/>
    <p:sldId id="264" r:id="rId18"/>
    <p:sldId id="265" r:id="rId19"/>
    <p:sldId id="267" r:id="rId20"/>
    <p:sldId id="282" r:id="rId21"/>
    <p:sldId id="268" r:id="rId22"/>
    <p:sldId id="269" r:id="rId23"/>
    <p:sldId id="270" r:id="rId24"/>
    <p:sldId id="271" r:id="rId25"/>
    <p:sldId id="272" r:id="rId26"/>
    <p:sldId id="273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71" autoAdjust="0"/>
    <p:restoredTop sz="94610"/>
  </p:normalViewPr>
  <p:slideViewPr>
    <p:cSldViewPr snapToGrid="0" snapToObjects="1">
      <p:cViewPr>
        <p:scale>
          <a:sx n="85" d="100"/>
          <a:sy n="85" d="100"/>
        </p:scale>
        <p:origin x="370" y="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96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1E667-229B-90EC-F187-1EE594A1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1AE0B-9C2E-3509-98AF-9C6E42087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F50B5-2AF0-25E2-6D4A-C1CE5B91A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1B840-ED82-910F-CCD5-E5BF7DC791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5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192.168.56.6/events/inde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60444"/>
            <a:ext cx="12188952" cy="6858000"/>
          </a:xfrm>
          <a:prstGeom prst="rect">
            <a:avLst/>
          </a:prstGeom>
          <a:solidFill>
            <a:srgbClr val="0F1B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4646608" cy="5296241"/>
          </a:xfrm>
          <a:prstGeom prst="ellipse">
            <a:avLst/>
          </a:prstGeom>
          <a:solidFill>
            <a:srgbClr val="1626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5176" y="432180"/>
            <a:ext cx="7382984" cy="650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0406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telemetry, SIEM correlation, and MITRE ATT&amp;CK-mapped detection engineering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with live threat intelligence — built and validated in an isolated lab environment.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 Tenguriya
</a:t>
            </a:r>
            <a:r>
              <a:rPr lang="en-US" sz="1400" b="1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</a:t>
            </a: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[23EACCC040]
</a:t>
            </a:r>
            <a:r>
              <a:rPr lang="en-US" sz="1400" b="1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</a:t>
            </a: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Cyber Security
</a:t>
            </a:r>
            <a:r>
              <a:rPr lang="en-US" sz="1400" b="1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</a:t>
            </a: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[Arya College of Engineering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8E2167-34B4-5DF3-28AB-6C3B911DB9BE}"/>
              </a:ext>
            </a:extLst>
          </p:cNvPr>
          <p:cNvSpPr txBox="1"/>
          <p:nvPr/>
        </p:nvSpPr>
        <p:spPr>
          <a:xfrm>
            <a:off x="550460" y="1214652"/>
            <a:ext cx="6964907" cy="1648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8000"/>
              </a:lnSpc>
            </a:pPr>
            <a:r>
              <a:rPr lang="en-US" sz="3200" b="1" dirty="0">
                <a:solidFill>
                  <a:srgbClr val="ED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Fortify &amp; Detect: Sophos Firewall Hardening and SOC-Based Threat Detection Pipeline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Overview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828706"/>
              </p:ext>
            </p:extLst>
          </p:nvPr>
        </p:nvGraphicFramePr>
        <p:xfrm>
          <a:off x="548640" y="1554480"/>
          <a:ext cx="11064240" cy="100584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Domain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 Tech Software Pvt. Ltd., Jaipur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Sophos Firewall Configuration &amp; Network 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Training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focused on Sophos Firewall (SFOS) configuration, network security policy design, and enterprise perimeter administration.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parallel, this self-directed project was built to connect that firewall training to a complete Security Operations Center workflow — endpoint monitoring, SIEM correlation, and threat intelligence enrichment.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implemented and validated entirely within an isolated virtual lab, independent of any client environment, consistent with the training program's confidentiality requirements.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77000" y="2894076"/>
            <a:ext cx="5166360" cy="3520440"/>
          </a:xfrm>
          <a:prstGeom prst="roundRect">
            <a:avLst>
              <a:gd name="adj" fmla="val 2078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676656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771273" y="3145536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administration in isolation rarely shows how perimeter security connects to detection and response. This project builds that missing link — a working pipeline from endpoint telemetry through to enriched, MITRE-mapped alerts.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Project, and What It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SIEM alone tells you something happened — it does not tell you whether it is likely malicious.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threat intelligence context, every alert looks equally urgent, and analysts spend time triaging noise instead of real threats.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telemetry (Sysmon) generates high-volume, low-context events unless mapped to a structured framework like MITRE ATT&amp;CK.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Firewall/perimeter administration, endpoint monitoring, and threat intelligence are frequently taught and operated as separate silos.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Wazuh SIEM to centrally correlate endpoint telemetry from Windows and Linux hosts.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Sysmon and Auditd for high-fidelity process, network, and authentication event capture.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detection rules mapped explicitly to MITRE ATT&amp;CK technique IDs.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MISP for automated IOC enrichment against live abuse.ch threat feeds.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detection through controlled adversarial simulation, not assumption.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Used in This Implementation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060380"/>
              </p:ext>
            </p:extLst>
          </p:nvPr>
        </p:nvGraphicFramePr>
        <p:xfrm>
          <a:off x="548640" y="1554480"/>
          <a:ext cx="7863840" cy="45720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This 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VMware Workstation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Virtualization platform for the isolated lab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endpoint (Sysmon + Wazuh agent)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Wazuh Manager and MISP host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 Linux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attack simulation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Sysmon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process / network / registry telemetry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Wazuh SIEM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correlation, detection rules, alerting, 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intelligence platform — IOC enrichment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MITRE ATT&amp;CK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mapping framework for every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Host-only 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192.168.56.0/24 lab segment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8641080" y="1554480"/>
            <a:ext cx="3017520" cy="4526280"/>
          </a:xfrm>
          <a:prstGeom prst="roundRect">
            <a:avLst>
              <a:gd name="adj" fmla="val 2424"/>
            </a:avLst>
          </a:prstGeom>
          <a:solidFill>
            <a:srgbClr val="E85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9154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2148840"/>
            <a:ext cx="2514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Sophos Firewall is intentionally not listed here — it is covered separately under Future Work, since perimeter integration was designed but not yet deployed against a live device within this project's scope.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WORK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Attack-to-Alert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follows a detect → decode → correlate → enrich → investigate workflow. An attack action from Kali is captured at the endpoint, forwarded to Wazuh, matched against MITRE-mapped rules, optionally enriched via MISP, and surfaced to the analyst dashboard.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generates a controlled attack action (Nmap, Hydra, PowerShell reverse shell).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/ Auditd captures the resulting event at the endpoint.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Wazuh agent forwards it over TCP 1514 to the Wazuh Manager.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engine matches it against a Sigma / Wazuh-native, MITRE-mapped rule.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alert is IOC-eligible, Wazuh queries MISP over REST for enrichment.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investigates the enriched alert on the dashboard.</a:t>
            </a:r>
            <a:endParaRPr lang="en-US" sz="1400" dirty="0"/>
          </a:p>
        </p:txBody>
      </p:sp>
      <p:pic>
        <p:nvPicPr>
          <p:cNvPr id="6" name="Image 0" descr="/home/claude/ppt_work/assets/attack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3720" y="545909"/>
            <a:ext cx="4663440" cy="60323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276" y="13074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298431" y="423354"/>
            <a:ext cx="9923742" cy="251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Pipeline: Endpoint → SIEM → Threat Intel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5650992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A15A6B-743C-4526-B9A4-E238C00A4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3372"/>
            <a:ext cx="12192000" cy="6093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04E78C-8F47-59CC-D4D0-79771275BBED}"/>
              </a:ext>
            </a:extLst>
          </p:cNvPr>
          <p:cNvSpPr txBox="1"/>
          <p:nvPr/>
        </p:nvSpPr>
        <p:spPr>
          <a:xfrm>
            <a:off x="191070" y="286603"/>
            <a:ext cx="39100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Virtual Machine Used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76F3D5-DBFE-5C38-FC7E-FFDFF9564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960971"/>
              </p:ext>
            </p:extLst>
          </p:nvPr>
        </p:nvGraphicFramePr>
        <p:xfrm>
          <a:off x="291152" y="968991"/>
          <a:ext cx="11691582" cy="56645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45791">
                  <a:extLst>
                    <a:ext uri="{9D8B030D-6E8A-4147-A177-3AD203B41FA5}">
                      <a16:colId xmlns:a16="http://schemas.microsoft.com/office/drawing/2014/main" val="2930286758"/>
                    </a:ext>
                  </a:extLst>
                </a:gridCol>
                <a:gridCol w="5845791">
                  <a:extLst>
                    <a:ext uri="{9D8B030D-6E8A-4147-A177-3AD203B41FA5}">
                      <a16:colId xmlns:a16="http://schemas.microsoft.com/office/drawing/2014/main" val="3907245637"/>
                    </a:ext>
                  </a:extLst>
                </a:gridCol>
              </a:tblGrid>
              <a:tr h="286200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94314"/>
                  </a:ext>
                </a:extLst>
              </a:tr>
              <a:tr h="28025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62709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F8BBDA2-D409-DD85-698C-A675DFFC6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8" t="9357" r="14712" b="11757"/>
          <a:stretch>
            <a:fillRect/>
          </a:stretch>
        </p:blipFill>
        <p:spPr>
          <a:xfrm>
            <a:off x="6560023" y="3844119"/>
            <a:ext cx="4804012" cy="27893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0DEFFE-FCBC-541C-3F2F-F619259868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85"/>
          <a:stretch>
            <a:fillRect/>
          </a:stretch>
        </p:blipFill>
        <p:spPr>
          <a:xfrm>
            <a:off x="777698" y="3828545"/>
            <a:ext cx="5018050" cy="2789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87165D-7933-F061-FD5E-64BF89720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68" y="971225"/>
            <a:ext cx="5190923" cy="28728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89496A-04AD-423B-6594-56855FAE2144}"/>
              </a:ext>
            </a:extLst>
          </p:cNvPr>
          <p:cNvSpPr txBox="1"/>
          <p:nvPr/>
        </p:nvSpPr>
        <p:spPr>
          <a:xfrm>
            <a:off x="1687773" y="3480179"/>
            <a:ext cx="3771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Windows –victim machine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4031C-2543-F7C9-A9B5-30C2CF901A75}"/>
              </a:ext>
            </a:extLst>
          </p:cNvPr>
          <p:cNvSpPr txBox="1"/>
          <p:nvPr/>
        </p:nvSpPr>
        <p:spPr>
          <a:xfrm>
            <a:off x="3515508" y="6266872"/>
            <a:ext cx="2280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Ubuntu-</a:t>
            </a:r>
            <a:r>
              <a:rPr lang="en-US" dirty="0" err="1">
                <a:highlight>
                  <a:srgbClr val="C0C0C0"/>
                </a:highlight>
              </a:rPr>
              <a:t>wazuh</a:t>
            </a:r>
            <a:r>
              <a:rPr lang="en-US" dirty="0">
                <a:highlight>
                  <a:srgbClr val="C0C0C0"/>
                </a:highlight>
              </a:rPr>
              <a:t>-server </a:t>
            </a:r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E7123D-7DEE-BD24-D368-F6711CCEF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295" y="966295"/>
            <a:ext cx="4981658" cy="28657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245FE7-70B8-7BD3-A45D-2244B21E8CE7}"/>
              </a:ext>
            </a:extLst>
          </p:cNvPr>
          <p:cNvSpPr txBox="1"/>
          <p:nvPr/>
        </p:nvSpPr>
        <p:spPr>
          <a:xfrm>
            <a:off x="7902054" y="3429000"/>
            <a:ext cx="1397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Kali-attacker </a:t>
            </a:r>
            <a:endParaRPr lang="en-IN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62244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ECF0EB-5872-92E3-931B-653E90F83862}"/>
              </a:ext>
            </a:extLst>
          </p:cNvPr>
          <p:cNvSpPr txBox="1"/>
          <p:nvPr/>
        </p:nvSpPr>
        <p:spPr>
          <a:xfrm>
            <a:off x="209266" y="0"/>
            <a:ext cx="62230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Wazuh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console Login and Dashboard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8AF09D-3EC7-0DD6-6260-835E652B3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236554"/>
              </p:ext>
            </p:extLst>
          </p:nvPr>
        </p:nvGraphicFramePr>
        <p:xfrm>
          <a:off x="141027" y="553998"/>
          <a:ext cx="11846258" cy="62380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23129">
                  <a:extLst>
                    <a:ext uri="{9D8B030D-6E8A-4147-A177-3AD203B41FA5}">
                      <a16:colId xmlns:a16="http://schemas.microsoft.com/office/drawing/2014/main" val="3799395094"/>
                    </a:ext>
                  </a:extLst>
                </a:gridCol>
                <a:gridCol w="5923129">
                  <a:extLst>
                    <a:ext uri="{9D8B030D-6E8A-4147-A177-3AD203B41FA5}">
                      <a16:colId xmlns:a16="http://schemas.microsoft.com/office/drawing/2014/main" val="83809632"/>
                    </a:ext>
                  </a:extLst>
                </a:gridCol>
              </a:tblGrid>
              <a:tr h="311901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257497"/>
                  </a:ext>
                </a:extLst>
              </a:tr>
              <a:tr h="3119019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                                 Login Credentials Provision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7972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A46CCB6-FCE3-CA5D-13E6-1E50AB2BDB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666"/>
          <a:stretch>
            <a:fillRect/>
          </a:stretch>
        </p:blipFill>
        <p:spPr>
          <a:xfrm>
            <a:off x="6207741" y="628746"/>
            <a:ext cx="5734050" cy="2913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2D89D0-6608-408A-7C0E-A29DE3D043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76" b="-3792"/>
          <a:stretch>
            <a:fillRect/>
          </a:stretch>
        </p:blipFill>
        <p:spPr>
          <a:xfrm>
            <a:off x="6204958" y="3864592"/>
            <a:ext cx="5736833" cy="2993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0ECB63-63B7-5C02-10A0-4048C010DC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39"/>
          <a:stretch>
            <a:fillRect/>
          </a:stretch>
        </p:blipFill>
        <p:spPr>
          <a:xfrm>
            <a:off x="250210" y="777923"/>
            <a:ext cx="5734050" cy="2705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A052E-30CF-82A9-576C-E23DDCE11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027" y="4769932"/>
            <a:ext cx="5736833" cy="1182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75671-44E5-8936-5AD0-BE8E35789343}"/>
              </a:ext>
            </a:extLst>
          </p:cNvPr>
          <p:cNvSpPr txBox="1"/>
          <p:nvPr/>
        </p:nvSpPr>
        <p:spPr>
          <a:xfrm>
            <a:off x="2415653" y="3118935"/>
            <a:ext cx="1708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 in page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831831-AD37-9FA9-BAC7-231EB6F05A6B}"/>
              </a:ext>
            </a:extLst>
          </p:cNvPr>
          <p:cNvSpPr txBox="1"/>
          <p:nvPr/>
        </p:nvSpPr>
        <p:spPr>
          <a:xfrm>
            <a:off x="7820167" y="1016337"/>
            <a:ext cx="270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Dashboard before agent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7666F6-8DD2-1701-B170-4C218525DCD1}"/>
              </a:ext>
            </a:extLst>
          </p:cNvPr>
          <p:cNvSpPr txBox="1"/>
          <p:nvPr/>
        </p:nvSpPr>
        <p:spPr>
          <a:xfrm>
            <a:off x="7606352" y="6119336"/>
            <a:ext cx="3421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 board after agent integration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B51B1D-472D-2A64-BD18-AC34B1D40481}"/>
              </a:ext>
            </a:extLst>
          </p:cNvPr>
          <p:cNvSpPr/>
          <p:nvPr/>
        </p:nvSpPr>
        <p:spPr>
          <a:xfrm>
            <a:off x="1350818" y="5486400"/>
            <a:ext cx="2606040" cy="128847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1117A-0B14-1C1B-6D93-5AFAA72099C3}"/>
              </a:ext>
            </a:extLst>
          </p:cNvPr>
          <p:cNvSpPr/>
          <p:nvPr/>
        </p:nvSpPr>
        <p:spPr>
          <a:xfrm>
            <a:off x="8258695" y="5536276"/>
            <a:ext cx="1429789" cy="22860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873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349DE-12CC-24A8-02B2-69E326A56C9B}"/>
              </a:ext>
            </a:extLst>
          </p:cNvPr>
          <p:cNvSpPr txBox="1"/>
          <p:nvPr/>
        </p:nvSpPr>
        <p:spPr>
          <a:xfrm>
            <a:off x="332096" y="227463"/>
            <a:ext cx="6131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MISP Dashboard and Rest Authorization KEY GENERATION-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CC06C7-AE87-9FEB-7353-DC998F05B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472071"/>
              </p:ext>
            </p:extLst>
          </p:nvPr>
        </p:nvGraphicFramePr>
        <p:xfrm>
          <a:off x="332096" y="777968"/>
          <a:ext cx="11782567" cy="6084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27510">
                  <a:extLst>
                    <a:ext uri="{9D8B030D-6E8A-4147-A177-3AD203B41FA5}">
                      <a16:colId xmlns:a16="http://schemas.microsoft.com/office/drawing/2014/main" val="143447197"/>
                    </a:ext>
                  </a:extLst>
                </a:gridCol>
                <a:gridCol w="6055057">
                  <a:extLst>
                    <a:ext uri="{9D8B030D-6E8A-4147-A177-3AD203B41FA5}">
                      <a16:colId xmlns:a16="http://schemas.microsoft.com/office/drawing/2014/main" val="2558913171"/>
                    </a:ext>
                  </a:extLst>
                </a:gridCol>
              </a:tblGrid>
              <a:tr h="30423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823337"/>
                  </a:ext>
                </a:extLst>
              </a:tr>
              <a:tr h="30423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54007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1EE40FC-A90F-F552-C3FF-0F58CDDC4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0" y="788196"/>
            <a:ext cx="5461095" cy="30274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DCCCCE-D0F5-9E4B-AB9B-9549BDDE8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721" y="751438"/>
            <a:ext cx="5461095" cy="3064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B7F162-546D-7B46-8C52-6D46790D9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96" y="3958457"/>
            <a:ext cx="5734050" cy="2672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4CF937-5688-A78A-48D3-D963F12AD9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1837"/>
          <a:stretch>
            <a:fillRect/>
          </a:stretch>
        </p:blipFill>
        <p:spPr>
          <a:xfrm>
            <a:off x="6096000" y="3853810"/>
            <a:ext cx="5892280" cy="29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38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20B7E7-245F-5A27-1AAA-DB77AAA24DC2}"/>
              </a:ext>
            </a:extLst>
          </p:cNvPr>
          <p:cNvSpPr txBox="1"/>
          <p:nvPr/>
        </p:nvSpPr>
        <p:spPr>
          <a:xfrm>
            <a:off x="39566" y="0"/>
            <a:ext cx="94027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Windows – Sysmon Communication and Log generation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FC168A-3CD7-7E43-7AC3-4CC9920E5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864305"/>
              </p:ext>
            </p:extLst>
          </p:nvPr>
        </p:nvGraphicFramePr>
        <p:xfrm>
          <a:off x="281354" y="719665"/>
          <a:ext cx="11298115" cy="56547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1792">
                  <a:extLst>
                    <a:ext uri="{9D8B030D-6E8A-4147-A177-3AD203B41FA5}">
                      <a16:colId xmlns:a16="http://schemas.microsoft.com/office/drawing/2014/main" val="4268489441"/>
                    </a:ext>
                  </a:extLst>
                </a:gridCol>
                <a:gridCol w="5666323">
                  <a:extLst>
                    <a:ext uri="{9D8B030D-6E8A-4147-A177-3AD203B41FA5}">
                      <a16:colId xmlns:a16="http://schemas.microsoft.com/office/drawing/2014/main" val="693548768"/>
                    </a:ext>
                  </a:extLst>
                </a:gridCol>
              </a:tblGrid>
              <a:tr h="565475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5230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D09D1FA-7D70-6890-4FD1-82974F34B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297" y="983863"/>
            <a:ext cx="5339741" cy="5135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0CE457-552B-E0F8-CD7E-61E5FFFE8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54" y="1386062"/>
            <a:ext cx="5620797" cy="3590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C2B0CA-B89D-AF94-8B05-2EE1FB045BA1}"/>
              </a:ext>
            </a:extLst>
          </p:cNvPr>
          <p:cNvSpPr txBox="1"/>
          <p:nvPr/>
        </p:nvSpPr>
        <p:spPr>
          <a:xfrm>
            <a:off x="828962" y="5394121"/>
            <a:ext cx="445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Sysmon in Running state in Win-Victim machine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7F201-8195-9F82-99CD-25DA165482E0}"/>
              </a:ext>
            </a:extLst>
          </p:cNvPr>
          <p:cNvSpPr txBox="1"/>
          <p:nvPr/>
        </p:nvSpPr>
        <p:spPr>
          <a:xfrm>
            <a:off x="9315848" y="4976987"/>
            <a:ext cx="2067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Appropriate </a:t>
            </a:r>
            <a:br>
              <a:rPr lang="en-US" dirty="0"/>
            </a:br>
            <a:r>
              <a:rPr lang="en-US" dirty="0"/>
              <a:t>Security Log  Generation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9694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07091C-8243-C334-431F-226E8C4BEBFC}"/>
              </a:ext>
            </a:extLst>
          </p:cNvPr>
          <p:cNvSpPr txBox="1"/>
          <p:nvPr/>
        </p:nvSpPr>
        <p:spPr>
          <a:xfrm>
            <a:off x="159390" y="226340"/>
            <a:ext cx="66356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WAZUH – MISP INTEGRATION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71CB7E-9157-2C2F-A250-7A61B9802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047611"/>
              </p:ext>
            </p:extLst>
          </p:nvPr>
        </p:nvGraphicFramePr>
        <p:xfrm>
          <a:off x="159390" y="946245"/>
          <a:ext cx="11477602" cy="56319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38801">
                  <a:extLst>
                    <a:ext uri="{9D8B030D-6E8A-4147-A177-3AD203B41FA5}">
                      <a16:colId xmlns:a16="http://schemas.microsoft.com/office/drawing/2014/main" val="1276216388"/>
                    </a:ext>
                  </a:extLst>
                </a:gridCol>
                <a:gridCol w="5738801">
                  <a:extLst>
                    <a:ext uri="{9D8B030D-6E8A-4147-A177-3AD203B41FA5}">
                      <a16:colId xmlns:a16="http://schemas.microsoft.com/office/drawing/2014/main" val="131931469"/>
                    </a:ext>
                  </a:extLst>
                </a:gridCol>
              </a:tblGrid>
              <a:tr h="281598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946898"/>
                  </a:ext>
                </a:extLst>
              </a:tr>
              <a:tr h="281598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IN" sz="1600" dirty="0" err="1"/>
                        <a:t>root@wazuh-server</a:t>
                      </a:r>
                      <a:r>
                        <a:rPr lang="en-IN" sz="1600" dirty="0"/>
                        <a:t>:/home/</a:t>
                      </a:r>
                      <a:r>
                        <a:rPr lang="en-IN" sz="1600" dirty="0" err="1"/>
                        <a:t>pari</a:t>
                      </a:r>
                      <a:r>
                        <a:rPr lang="en-IN" sz="1600" dirty="0"/>
                        <a:t># curl -k \ &gt;</a:t>
                      </a:r>
                    </a:p>
                    <a:p>
                      <a:r>
                        <a:rPr lang="en-IN" sz="1600" dirty="0"/>
                        <a:t> -H "Authorization:  </a:t>
                      </a:r>
                      <a:r>
                        <a:rPr lang="en-IN" sz="1600" b="1" dirty="0"/>
                        <a:t>EtlyL5l21gMiZZt0TmC75Ij9LDMKQH2MWmc36x</a:t>
                      </a:r>
                      <a:r>
                        <a:rPr lang="en-IN" sz="1600" dirty="0"/>
                        <a:t>" \ &gt;</a:t>
                      </a:r>
                    </a:p>
                    <a:p>
                      <a:r>
                        <a:rPr lang="en-IN" sz="1600" dirty="0"/>
                        <a:t> -H "Accept: application/</a:t>
                      </a:r>
                      <a:r>
                        <a:rPr lang="en-IN" sz="1600" dirty="0" err="1"/>
                        <a:t>json</a:t>
                      </a:r>
                      <a:r>
                        <a:rPr lang="en-IN" sz="1600" dirty="0"/>
                        <a:t>" \ &gt; </a:t>
                      </a:r>
                      <a:r>
                        <a:rPr lang="en-IN" sz="1600" dirty="0">
                          <a:hlinkClick r:id="rId2"/>
                        </a:rPr>
                        <a:t>http://192.168.56.6/events/index</a:t>
                      </a:r>
                      <a:endParaRPr lang="en-IN" sz="1600" dirty="0"/>
                    </a:p>
                    <a:p>
                      <a:r>
                        <a:rPr lang="en-US" sz="1600" dirty="0"/>
                        <a:t>&lt;!DOCTYPE HTML PUBLIC "-//IETF//DTD HTML 2.0//EN"&gt; &lt;html&gt;&lt;head&gt; &lt;title&gt;301 Moved Permanently&lt;/title&gt; &lt;/head&gt;&lt;body&gt; &lt;h1&gt;Moved Permanently&lt;/h1&gt; &lt;p&gt;The document has moved &lt;a </a:t>
                      </a:r>
                      <a:r>
                        <a:rPr lang="en-US" sz="1600" dirty="0" err="1"/>
                        <a:t>href</a:t>
                      </a:r>
                      <a:r>
                        <a:rPr lang="en-US" sz="1600" dirty="0"/>
                        <a:t>="https://misp.local/events/index"&gt;here&lt;/a&gt;.&lt;/p&gt; &lt;/body&gt;&lt;/html&gt; </a:t>
                      </a:r>
                      <a:r>
                        <a:rPr lang="en-US" sz="1600" dirty="0" err="1"/>
                        <a:t>root@wazuh-server</a:t>
                      </a:r>
                      <a:r>
                        <a:rPr lang="en-US" sz="1600" dirty="0"/>
                        <a:t>:/home/</a:t>
                      </a:r>
                      <a:r>
                        <a:rPr lang="en-US" sz="1600" dirty="0" err="1"/>
                        <a:t>pari</a:t>
                      </a:r>
                      <a:r>
                        <a:rPr lang="en-US" sz="1600" dirty="0"/>
                        <a:t>#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9784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A79EA1B-564E-1B74-4DD6-311BE49AD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90" y="952508"/>
            <a:ext cx="5731893" cy="56319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E189BD-D742-B59A-EC38-9B6D56862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283" y="1123830"/>
            <a:ext cx="5736833" cy="24812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7807B5-4D3C-1B7D-74F8-57D7E64E4E13}"/>
              </a:ext>
            </a:extLst>
          </p:cNvPr>
          <p:cNvSpPr/>
          <p:nvPr/>
        </p:nvSpPr>
        <p:spPr>
          <a:xfrm>
            <a:off x="255181" y="4789967"/>
            <a:ext cx="2918638" cy="547577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03B1F5-BE7B-58B7-E021-51B5C6BF705A}"/>
              </a:ext>
            </a:extLst>
          </p:cNvPr>
          <p:cNvCxnSpPr>
            <a:cxnSpLocks/>
          </p:cNvCxnSpPr>
          <p:nvPr/>
        </p:nvCxnSpPr>
        <p:spPr>
          <a:xfrm flipV="1">
            <a:off x="3355200" y="4435200"/>
            <a:ext cx="2536083" cy="482400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92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SIMULATION — EVIDENCE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Attacks (Insert Your Screenshots)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EEF2F6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43100" y="2880360"/>
            <a:ext cx="822960" cy="82296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94310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306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3611880" cy="594360"/>
          </a:xfrm>
          <a:prstGeom prst="roundRect">
            <a:avLst/>
          </a:prstGeom>
          <a:solidFill>
            <a:srgbClr val="0F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Port Scan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EEF2F6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737860" y="2880360"/>
            <a:ext cx="822960" cy="82296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3786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3060" dirty="0"/>
          </a:p>
        </p:txBody>
      </p:sp>
      <p:sp>
        <p:nvSpPr>
          <p:cNvPr id="13" name="Text 11"/>
          <p:cNvSpPr/>
          <p:nvPr/>
        </p:nvSpPr>
        <p:spPr>
          <a:xfrm>
            <a:off x="461772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5074920"/>
            <a:ext cx="3611880" cy="594360"/>
          </a:xfrm>
          <a:prstGeom prst="roundRect">
            <a:avLst/>
          </a:prstGeom>
          <a:solidFill>
            <a:srgbClr val="0F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43400" y="50749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EICAR FILE 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53262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3060" dirty="0"/>
          </a:p>
        </p:txBody>
      </p:sp>
      <p:sp>
        <p:nvSpPr>
          <p:cNvPr id="21" name="Text 19"/>
          <p:cNvSpPr/>
          <p:nvPr/>
        </p:nvSpPr>
        <p:spPr>
          <a:xfrm>
            <a:off x="8138160" y="50749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 Callback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2CA6E9C-7167-EAC4-A127-B37E29463E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50" t="-3972" r="17591" b="-1"/>
          <a:stretch>
            <a:fillRect/>
          </a:stretch>
        </p:blipFill>
        <p:spPr>
          <a:xfrm>
            <a:off x="4343400" y="1499616"/>
            <a:ext cx="3611880" cy="33468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C03442-1667-10D0-C64F-9A7AD06A4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306" y="3876973"/>
            <a:ext cx="3061468" cy="10150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6A0A33D-0282-F110-B218-A3927B495D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373"/>
          <a:stretch>
            <a:fillRect/>
          </a:stretch>
        </p:blipFill>
        <p:spPr>
          <a:xfrm>
            <a:off x="624385" y="1737323"/>
            <a:ext cx="3536135" cy="32919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AB2438-B6E6-9355-0BA2-C2D69CADC958}"/>
              </a:ext>
            </a:extLst>
          </p:cNvPr>
          <p:cNvSpPr txBox="1"/>
          <p:nvPr/>
        </p:nvSpPr>
        <p:spPr>
          <a:xfrm>
            <a:off x="234891" y="239087"/>
            <a:ext cx="64469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Threat Intelligence Monitoring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14483-7E2C-6EAC-AB1B-073B380CB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18" y="793085"/>
            <a:ext cx="11195713" cy="595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06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AA24BE-7466-1457-8467-85F9680DD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175675"/>
              </p:ext>
            </p:extLst>
          </p:nvPr>
        </p:nvGraphicFramePr>
        <p:xfrm>
          <a:off x="318448" y="423081"/>
          <a:ext cx="11718878" cy="6314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59439">
                  <a:extLst>
                    <a:ext uri="{9D8B030D-6E8A-4147-A177-3AD203B41FA5}">
                      <a16:colId xmlns:a16="http://schemas.microsoft.com/office/drawing/2014/main" val="3462008163"/>
                    </a:ext>
                  </a:extLst>
                </a:gridCol>
                <a:gridCol w="5859439">
                  <a:extLst>
                    <a:ext uri="{9D8B030D-6E8A-4147-A177-3AD203B41FA5}">
                      <a16:colId xmlns:a16="http://schemas.microsoft.com/office/drawing/2014/main" val="1611210367"/>
                    </a:ext>
                  </a:extLst>
                </a:gridCol>
              </a:tblGrid>
              <a:tr h="315718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548181"/>
                  </a:ext>
                </a:extLst>
              </a:tr>
              <a:tr h="315718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73741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2A34676-B097-801B-F154-50B378833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47" y="423081"/>
            <a:ext cx="5873584" cy="4226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49F540-7AC8-781D-BF0C-C1BDEB09E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48" y="4803115"/>
            <a:ext cx="5759852" cy="20160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3212FA-8D94-D0EE-0914-8AEC61517EA1}"/>
              </a:ext>
            </a:extLst>
          </p:cNvPr>
          <p:cNvSpPr/>
          <p:nvPr/>
        </p:nvSpPr>
        <p:spPr>
          <a:xfrm>
            <a:off x="6268872" y="5440907"/>
            <a:ext cx="4758519" cy="99401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7603A1-DA9E-3273-AD42-A95B87E66C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614"/>
          <a:stretch>
            <a:fillRect/>
          </a:stretch>
        </p:blipFill>
        <p:spPr>
          <a:xfrm>
            <a:off x="6177886" y="423081"/>
            <a:ext cx="5759851" cy="61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92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MITRE ATT&amp;CK-Mapped Detections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generated in this SOC project is mapped to the MITRE ATT&amp;CK framework. Attack traffic from Kali Linux is detected by Sophos Firewall, analyzed by </a:t>
            </a:r>
            <a:r>
              <a:rPr lang="en-US" sz="13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SIEM, and enriched using MISP Threat Intelligence.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24780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" y="2478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T1059.001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Reconnaissance</a:t>
            </a:r>
            <a:endParaRPr lang="en-US" sz="1400" b="1" dirty="0"/>
          </a:p>
        </p:txBody>
      </p:sp>
      <p:sp>
        <p:nvSpPr>
          <p:cNvPr id="9" name="Text 7"/>
          <p:cNvSpPr/>
          <p:nvPr/>
        </p:nvSpPr>
        <p:spPr>
          <a:xfrm>
            <a:off x="713232" y="3189798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Scanning , Nmap Host Discovery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331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62272" y="24780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62272" y="2478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T0146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62272" y="28346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62272" y="3172968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 , Service Enumeration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11312" y="24780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11312" y="2478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11312" y="28346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11312" y="3172968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&amp; Https Communication Monitoring 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3232" y="40782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3232" y="40782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44348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MISP Enrichment 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4773168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Lookup, IP Reputation , Domain Reputation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9319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62272" y="40782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462272" y="40782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Monitoring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62272" y="44348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Sysmon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62272" y="4773168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Creation , Process Creation , Network Connection 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9319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211312" y="40782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11312" y="40782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Correlation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11312" y="44348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11312" y="4773168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Correlation, Alert Generation ,MITRE Mapping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&amp; 2 — Environment and Endpoint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ENVIRONMENT SETUP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 isolated host-only virtual network (192.168.56.0/24) with no route to the real LAN.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Windows 11, Ubuntu Server, and Kali Linux VMs under VMware Workstation.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static IP addressing and verified inter-VM reachability before installing any security tooling.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/>
              <a:t>Configured consistent system time and </a:t>
            </a:r>
            <a:r>
              <a:rPr lang="en-US" sz="1600" dirty="0" err="1"/>
              <a:t>timezone</a:t>
            </a:r>
            <a:r>
              <a:rPr lang="en-US" sz="1600" dirty="0"/>
              <a:t> across all VMs for accurate log correlation.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ENDPOINT TELEMETRY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Sysmon on Windows 11 using a baseline configuration tuned for security-relevant event capture.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Auditd and native syslog on Ubuntu Server for authentication and command-execution auditing.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the Wazuh agent on both endpoints, registered independently and directly to the Wazuh Manager.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agent status as Active before proceeding — detection cannot be validated on top of a broken telemetry link.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Rule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ATT&amp;CK: T1059.003 – Windows Command Shell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3063240"/>
          </a:xfrm>
          <a:prstGeom prst="roundRect">
            <a:avLst>
              <a:gd name="adj" fmla="val 1791"/>
            </a:avLst>
          </a:prstGeom>
          <a:solidFill>
            <a:srgbClr val="0A121F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0424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900" dirty="0" err="1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conditititle</a:t>
            </a: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Suspicious Windows CMD Shell Execution</a:t>
            </a: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9FF6D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 err="1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logsource</a:t>
            </a: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product: windows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service: </a:t>
            </a:r>
            <a:r>
              <a:rPr lang="en-US" sz="900" dirty="0" err="1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sysmon</a:t>
            </a:r>
            <a:endParaRPr lang="en-US" sz="900" dirty="0">
              <a:solidFill>
                <a:srgbClr val="9FF6D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9FF6D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detection: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selection: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 err="1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Image|endswith</a:t>
            </a: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'\cmd.exe'</a:t>
            </a: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9FF6D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selection</a:t>
            </a: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9FF6D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level: medium</a:t>
            </a: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9FF6D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tags: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</a:t>
            </a:r>
            <a:r>
              <a:rPr lang="en-US" sz="900" dirty="0" err="1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attack.execution</a:t>
            </a:r>
            <a:endParaRPr lang="en-US" sz="900" dirty="0">
              <a:solidFill>
                <a:srgbClr val="9FF6D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9F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attack.t1059.003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11064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any process opening a handle to lsass.exe with memory-read access rights — the mechanism behind credential dumping, regardless of which tool is used.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excludes known-good EDR/AV access patterns to reduce false positives.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triggering Atomic Red Team test T1003.001 and confirming the alert fires within the expected window.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&amp; 4 — Threat Intel and Attack Simulation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MISP INTEGRATION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dirty="0"/>
              <a:t>Deployed MISP and configured Threat Intelligence feeds for IOC enrichment.</a:t>
            </a:r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dirty="0"/>
              <a:t>Generated an API key and integrated </a:t>
            </a:r>
            <a:r>
              <a:rPr lang="en-US" dirty="0" err="1"/>
              <a:t>Wazuh</a:t>
            </a:r>
            <a:r>
              <a:rPr lang="en-US" dirty="0"/>
              <a:t> with MISP using a custom integration script for IOC lookup.</a:t>
            </a:r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enrichment end-to-end using wazuh-logtest before trusting  live alert.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ATTACK SIMULATION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Nmap: </a:t>
            </a:r>
            <a:r>
              <a:rPr lang="en-US" dirty="0"/>
              <a:t>Host discovery, port scanning, and service enumeration.</a:t>
            </a:r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b="1" dirty="0"/>
              <a:t> EICAR Test File: </a:t>
            </a:r>
            <a:r>
              <a:rPr lang="en-US" dirty="0"/>
              <a:t>Safe endpoint detection and IOC validation.</a:t>
            </a:r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b="1" dirty="0"/>
              <a:t>Windows Sysmon:</a:t>
            </a:r>
            <a:r>
              <a:rPr lang="en-US" dirty="0"/>
              <a:t> Process, file creation, and network event collection.</a:t>
            </a:r>
          </a:p>
          <a:p>
            <a:pPr marL="177800" indent="-177800">
              <a:spcAft>
                <a:spcPts val="1100"/>
              </a:spcAft>
              <a:buSzPct val="100000"/>
              <a:buFontTx/>
              <a:buChar char="▪"/>
            </a:pPr>
            <a:r>
              <a:rPr lang="en-US" b="1" dirty="0"/>
              <a:t> </a:t>
            </a:r>
            <a:r>
              <a:rPr lang="en-US" b="1" dirty="0" err="1"/>
              <a:t>Wazuh</a:t>
            </a:r>
            <a:r>
              <a:rPr lang="en-US" b="1" dirty="0"/>
              <a:t>:</a:t>
            </a:r>
            <a:r>
              <a:rPr lang="en-US" dirty="0"/>
              <a:t> Alert correlation and MISP IOC enrichment. </a:t>
            </a:r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ALERT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</a:rPr>
              <a:t>End-to-End Detection &amp; Alert Enrichment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04088" y="184708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0408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44144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action executed from Kali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93008" y="184708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9300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02152" y="244144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/ Auditd captures the raw event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81928" y="184708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8192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91072" y="244144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200" dirty="0" err="1"/>
              <a:t>Wazuh</a:t>
            </a:r>
            <a:r>
              <a:rPr lang="en-US" sz="1200" dirty="0"/>
              <a:t> Agent (TCP 1514) or Sophos Syslog (UDP 5514) forwards the event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070848" y="184708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07084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79992" y="244144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decoder parses it into fields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04088" y="35844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040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3232" y="417880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matches a MITRE-mapped rule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429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93008" y="35844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9300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502152" y="417880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generated and indexed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3429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281928" y="35844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8192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291072" y="417880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 enrichment queried (if IOC-eligible)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15400" y="3429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Shape 31"/>
          <p:cNvSpPr/>
          <p:nvPr/>
        </p:nvSpPr>
        <p:spPr>
          <a:xfrm>
            <a:off x="9070848" y="35844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07084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079992" y="417880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investigates on the dashboard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9A160-415F-C52B-629B-88FE64D59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8416CD-EC3E-63EF-A171-EB3EBB58B4C2}"/>
              </a:ext>
            </a:extLst>
          </p:cNvPr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ALERT PIPELINE — EVIDENCE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24B646-D541-44EE-EF62-1A6A3F7D267D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Wazuh Alert Output 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D8F08B2-E437-A4A8-C5C4-5463788A1EDF}"/>
              </a:ext>
            </a:extLst>
          </p:cNvPr>
          <p:cNvSpPr/>
          <p:nvPr/>
        </p:nvSpPr>
        <p:spPr>
          <a:xfrm>
            <a:off x="548640" y="1600200"/>
            <a:ext cx="11064240" cy="4526280"/>
          </a:xfrm>
          <a:prstGeom prst="roundRect">
            <a:avLst>
              <a:gd name="adj" fmla="val 1616"/>
            </a:avLst>
          </a:prstGeom>
          <a:solidFill>
            <a:srgbClr val="EEF2F6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0F88FE3-580D-E44E-1433-E145AA8558EE}"/>
              </a:ext>
            </a:extLst>
          </p:cNvPr>
          <p:cNvSpPr/>
          <p:nvPr/>
        </p:nvSpPr>
        <p:spPr>
          <a:xfrm>
            <a:off x="5577840" y="3063240"/>
            <a:ext cx="1005840" cy="100584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714639C-5F8F-314A-9649-E10B4DD3282A}"/>
              </a:ext>
            </a:extLst>
          </p:cNvPr>
          <p:cNvSpPr/>
          <p:nvPr/>
        </p:nvSpPr>
        <p:spPr>
          <a:xfrm>
            <a:off x="557784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4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374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71E5A7-C3F5-5850-0221-DCBA93278111}"/>
              </a:ext>
            </a:extLst>
          </p:cNvPr>
          <p:cNvSpPr/>
          <p:nvPr/>
        </p:nvSpPr>
        <p:spPr>
          <a:xfrm>
            <a:off x="3200400" y="42519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screenshot of a fired alert here — e.g., the LSASS-access or PowerShell-execution rule from this deck, captured from the Wazuh dashboard's Threat Hunting module.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382FEBF-C2B8-78FE-FD0B-412CE8E405DF}"/>
              </a:ext>
            </a:extLst>
          </p:cNvPr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6A67995-B436-C771-BDF6-7CA4BB9A7AF1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39A41C-53DB-C429-4736-D05F5E6DA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5678"/>
            <a:ext cx="12192000" cy="547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64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ALERT PIPELINE — EVIDENCE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Wazuh Alert Output 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26280"/>
          </a:xfrm>
          <a:prstGeom prst="roundRect">
            <a:avLst>
              <a:gd name="adj" fmla="val 1616"/>
            </a:avLst>
          </a:prstGeom>
          <a:solidFill>
            <a:srgbClr val="EEF2F6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577840" y="3063240"/>
            <a:ext cx="1005840" cy="100584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57784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4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3740" dirty="0"/>
          </a:p>
        </p:txBody>
      </p:sp>
      <p:sp>
        <p:nvSpPr>
          <p:cNvPr id="7" name="Text 5"/>
          <p:cNvSpPr/>
          <p:nvPr/>
        </p:nvSpPr>
        <p:spPr>
          <a:xfrm>
            <a:off x="3200400" y="42519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screenshot of a fired alert here — e.g., the LSASS-access or PowerShell-execution rule from this deck, captured from the Wazuh dashboard's Threat Hunting module.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CAD550-42B6-89D8-E21E-73F97A2A3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882038"/>
              </p:ext>
            </p:extLst>
          </p:nvPr>
        </p:nvGraphicFramePr>
        <p:xfrm>
          <a:off x="579120" y="1600200"/>
          <a:ext cx="11064240" cy="45262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3267140951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675280704"/>
                    </a:ext>
                  </a:extLst>
                </a:gridCol>
              </a:tblGrid>
              <a:tr h="452627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15371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E3AB835-AD2E-CAA3-5240-00B7BA054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7"/>
            <a:ext cx="11220734" cy="477344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ENRICHMENT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Wazuh Dashboard — Visualization and Query,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Unlike a separate SIEM + query-language pairing, Wazuh's dashboard combines alert visualization and raw log search (Discover) in one interface — this slide merges what would otherwise be two separate slides.</a:t>
            </a:r>
            <a:endParaRPr lang="en-US" sz="13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73152" cy="13716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stream by rule, agent, and severity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73152" cy="13716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26280" y="2286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coverage matrix by tactic and technique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73152" cy="13716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75320" y="2286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26517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and field-based query across raw logs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73152" cy="13716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3840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Monitoring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206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and registry change tracking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370332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297680" y="3703320"/>
            <a:ext cx="73152" cy="13716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26280" y="3840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Enrichment Panel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4206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match context attached to eligible alerts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370332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046720" y="3703320"/>
            <a:ext cx="73152" cy="13716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75320" y="3840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75320" y="4206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Agent-reported CVE exposure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96112" y="2286000"/>
            <a:ext cx="310896" cy="310896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6112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6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dirty="0"/>
              <a:t>Deployed a </a:t>
            </a:r>
            <a:r>
              <a:rPr lang="en-US" sz="1400" dirty="0" err="1"/>
              <a:t>Wazuh</a:t>
            </a:r>
            <a:r>
              <a:rPr lang="en-US" sz="1400" dirty="0"/>
              <a:t> SIEM with Sysmon (Windows) </a:t>
            </a:r>
            <a:r>
              <a:rPr lang="en-US" sz="1400"/>
              <a:t>and Audited </a:t>
            </a:r>
            <a:r>
              <a:rPr lang="en-US" sz="1400" dirty="0"/>
              <a:t>(Ubuntu) telemetry from multiple endpoints.</a:t>
            </a:r>
          </a:p>
        </p:txBody>
      </p:sp>
      <p:sp>
        <p:nvSpPr>
          <p:cNvPr id="9" name="Shape 7"/>
          <p:cNvSpPr/>
          <p:nvPr/>
        </p:nvSpPr>
        <p:spPr>
          <a:xfrm>
            <a:off x="896112" y="3200400"/>
            <a:ext cx="310896" cy="310896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96112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6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dirty="0"/>
              <a:t>Implemented MITRE ATT&amp;CK-mapped detections for reconnaissance and network service discovery.</a:t>
            </a:r>
          </a:p>
          <a:p>
            <a:pPr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4114800"/>
            <a:ext cx="310896" cy="310896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611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6" dirty="0"/>
          </a:p>
        </p:txBody>
      </p:sp>
      <p:sp>
        <p:nvSpPr>
          <p:cNvPr id="14" name="Text 12"/>
          <p:cNvSpPr/>
          <p:nvPr/>
        </p:nvSpPr>
        <p:spPr>
          <a:xfrm>
            <a:off x="1371600" y="4069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/>
              <a:t>Integrated MISP for automated IOC enrichment against live threat feeds.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5029200"/>
            <a:ext cx="310896" cy="310896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96112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6" dirty="0"/>
          </a:p>
        </p:txBody>
      </p:sp>
      <p:sp>
        <p:nvSpPr>
          <p:cNvPr id="17" name="Text 15"/>
          <p:cNvSpPr/>
          <p:nvPr/>
        </p:nvSpPr>
        <p:spPr>
          <a:xfrm>
            <a:off x="1371600" y="4983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/>
              <a:t>Validated detections using controlled attack simulations (Nmap and EICAR).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F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24028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endpoint telemetry with threat intelligence significantly improved alert context.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 collection simplified security monitoring and investigation.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 helped organize detections using a standardized framework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Taught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3816" y="2116836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3816" y="2116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28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deployment, log decoder authoring, and rule engineering end to 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37376" y="2116836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37376" y="2116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28" dirty="0"/>
          </a:p>
        </p:txBody>
      </p:sp>
      <p:sp>
        <p:nvSpPr>
          <p:cNvPr id="11" name="Text 9"/>
          <p:cNvSpPr/>
          <p:nvPr/>
        </p:nvSpPr>
        <p:spPr>
          <a:xfrm>
            <a:off x="7040880" y="17830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detections to MITRE ATT&amp;CK techniques rather than writing generic alerts.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3816" y="3625596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3816" y="3625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28" dirty="0"/>
          </a:p>
        </p:txBody>
      </p:sp>
      <p:sp>
        <p:nvSpPr>
          <p:cNvPr id="15" name="Text 13"/>
          <p:cNvSpPr/>
          <p:nvPr/>
        </p:nvSpPr>
        <p:spPr>
          <a:xfrm>
            <a:off x="1417320" y="32918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integration and IOC-based enrichment workflows.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15468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37376" y="3625596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37376" y="3625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28" dirty="0"/>
          </a:p>
        </p:txBody>
      </p:sp>
      <p:sp>
        <p:nvSpPr>
          <p:cNvPr id="19" name="Text 17"/>
          <p:cNvSpPr/>
          <p:nvPr/>
        </p:nvSpPr>
        <p:spPr>
          <a:xfrm>
            <a:off x="7040880" y="32918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simulation as a validation method, not just a demo.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13816" y="5134356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13816" y="51343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28" dirty="0"/>
          </a:p>
        </p:txBody>
      </p:sp>
      <p:sp>
        <p:nvSpPr>
          <p:cNvPr id="23" name="Text 21"/>
          <p:cNvSpPr/>
          <p:nvPr/>
        </p:nvSpPr>
        <p:spPr>
          <a:xfrm>
            <a:off x="1417320" y="48006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incident investigation — process tree, timeline, root cause.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66344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37376" y="5134356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37376" y="51343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28" dirty="0"/>
          </a:p>
        </p:txBody>
      </p:sp>
      <p:sp>
        <p:nvSpPr>
          <p:cNvPr id="27" name="Text 25"/>
          <p:cNvSpPr/>
          <p:nvPr/>
        </p:nvSpPr>
        <p:spPr>
          <a:xfrm>
            <a:off x="7040880" y="48006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self-review: finding and fixing a real dependency bug in my own detection rules before relying on them.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E2F4A"/>
          </a:solidFill>
          <a:ln w="15240">
            <a:solidFill>
              <a:srgbClr val="E854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SOPHOS INTEGRATION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enhance the existing Sophos–</a:t>
            </a:r>
            <a:r>
              <a:rPr lang="en-US" sz="1400" dirty="0" err="1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integration by adding custom decoders, firewall-specific correlation rules, and broader MITRE ATT&amp;CK coverage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0424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security — Kerberos attack paths, BloodHound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SOAR-style automation of the investigation checklist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SOC extension (AWS/Azure log sources)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 basics on captured samples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Driven SOC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626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D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 Tenguriya  •  B.Tech Cyber Security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— Rise Tech Software Pvt. Ltd., Jaipur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1974</Words>
  <Application>Microsoft Office PowerPoint</Application>
  <PresentationFormat>Widescreen</PresentationFormat>
  <Paragraphs>298</Paragraphs>
  <Slides>26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Pari Tenguriya</cp:lastModifiedBy>
  <cp:revision>11</cp:revision>
  <dcterms:created xsi:type="dcterms:W3CDTF">2026-07-22T04:45:58Z</dcterms:created>
  <dcterms:modified xsi:type="dcterms:W3CDTF">2026-07-25T06:04:02Z</dcterms:modified>
</cp:coreProperties>
</file>